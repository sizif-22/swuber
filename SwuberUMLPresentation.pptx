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72" r:id="rId8"/>
    <p:sldId id="300" r:id="rId9"/>
    <p:sldId id="299" r:id="rId10"/>
    <p:sldId id="302" r:id="rId11"/>
    <p:sldId id="303" r:id="rId12"/>
    <p:sldId id="304" r:id="rId13"/>
    <p:sldId id="305" r:id="rId14"/>
    <p:sldId id="271" r:id="rId15"/>
  </p:sldIdLst>
  <p:sldSz cx="18288000" cy="10287000"/>
  <p:notesSz cx="6858000" cy="9144000"/>
  <p:embeddedFontLst>
    <p:embeddedFont>
      <p:font typeface="Gordita" panose="020B0604020202020204" charset="0"/>
      <p:regular r:id="rId17"/>
    </p:embeddedFont>
    <p:embeddedFont>
      <p:font typeface="TAN Nightinga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C75"/>
    <a:srgbClr val="CA9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309" autoAdjust="0"/>
  </p:normalViewPr>
  <p:slideViewPr>
    <p:cSldViewPr>
      <p:cViewPr>
        <p:scale>
          <a:sx n="50" d="100"/>
          <a:sy n="50" d="100"/>
        </p:scale>
        <p:origin x="647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CD66D-51A4-48AB-BE27-79E3ABD4FE0D}" type="datetimeFigureOut">
              <a:rPr lang="en-GB" smtClean="0"/>
              <a:t>19/10/2024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30A25-FE85-4BA9-A53D-308EC2A593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30A25-FE85-4BA9-A53D-308EC2A593C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921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a04k/C207Proj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87775" y="7208111"/>
            <a:ext cx="1543050" cy="1543050"/>
            <a:chOff x="0" y="0"/>
            <a:chExt cx="2057400" cy="20574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057400" cy="2057400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2FC7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509583" y="509583"/>
              <a:ext cx="1037315" cy="1037315"/>
            </a:xfrm>
            <a:prstGeom prst="line">
              <a:avLst/>
            </a:prstGeom>
            <a:ln w="38100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7"/>
            <p:cNvSpPr/>
            <p:nvPr/>
          </p:nvSpPr>
          <p:spPr>
            <a:xfrm>
              <a:off x="871458" y="1542238"/>
              <a:ext cx="686689" cy="0"/>
            </a:xfrm>
            <a:prstGeom prst="line">
              <a:avLst/>
            </a:prstGeom>
            <a:ln w="38100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 flipV="1">
              <a:off x="1542238" y="837902"/>
              <a:ext cx="0" cy="686689"/>
            </a:xfrm>
            <a:prstGeom prst="line">
              <a:avLst/>
            </a:prstGeom>
            <a:ln w="38100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15056" y="7208111"/>
            <a:ext cx="1543050" cy="1543050"/>
            <a:chOff x="0" y="0"/>
            <a:chExt cx="2057400" cy="20574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057400" cy="2057400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2FC7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509583" y="509583"/>
              <a:ext cx="1037315" cy="1037315"/>
            </a:xfrm>
            <a:prstGeom prst="line">
              <a:avLst/>
            </a:prstGeom>
            <a:ln w="38100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AutoShape 14"/>
            <p:cNvSpPr/>
            <p:nvPr/>
          </p:nvSpPr>
          <p:spPr>
            <a:xfrm>
              <a:off x="871458" y="1542238"/>
              <a:ext cx="686689" cy="0"/>
            </a:xfrm>
            <a:prstGeom prst="line">
              <a:avLst/>
            </a:prstGeom>
            <a:ln w="38100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5"/>
            <p:cNvSpPr/>
            <p:nvPr/>
          </p:nvSpPr>
          <p:spPr>
            <a:xfrm flipV="1">
              <a:off x="1542238" y="837902"/>
              <a:ext cx="0" cy="686689"/>
            </a:xfrm>
            <a:prstGeom prst="line">
              <a:avLst/>
            </a:prstGeom>
            <a:ln w="38100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895600" y="2247900"/>
            <a:ext cx="11658600" cy="2590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  <a:spcBef>
                <a:spcPct val="0"/>
              </a:spcBef>
            </a:pPr>
            <a:r>
              <a:rPr lang="en-US" sz="14400" dirty="0">
                <a:solidFill>
                  <a:srgbClr val="FFFFFF"/>
                </a:solidFill>
                <a:latin typeface="TAN Nightingale"/>
              </a:rPr>
              <a:t>Welcome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5E8B1F93-057E-382D-0C00-F59DD067ABA5}"/>
              </a:ext>
            </a:extLst>
          </p:cNvPr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 301</a:t>
            </a:r>
          </a:p>
        </p:txBody>
      </p:sp>
      <p:sp>
        <p:nvSpPr>
          <p:cNvPr id="22" name="TextBox 16">
            <a:extLst>
              <a:ext uri="{FF2B5EF4-FFF2-40B4-BE49-F238E27FC236}">
                <a16:creationId xmlns:a16="http://schemas.microsoft.com/office/drawing/2014/main" id="{30E78647-AE40-A9BA-946C-074AE500A8D9}"/>
              </a:ext>
            </a:extLst>
          </p:cNvPr>
          <p:cNvSpPr txBox="1"/>
          <p:nvPr/>
        </p:nvSpPr>
        <p:spPr>
          <a:xfrm>
            <a:off x="3314700" y="4152900"/>
            <a:ext cx="11658600" cy="22506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  <a:spcBef>
                <a:spcPct val="0"/>
              </a:spcBef>
            </a:pPr>
            <a:r>
              <a:rPr lang="en-US" sz="7200" dirty="0" err="1">
                <a:solidFill>
                  <a:schemeClr val="accent4"/>
                </a:solidFill>
                <a:latin typeface="TAN Nightingale"/>
              </a:rPr>
              <a:t>Swuber</a:t>
            </a:r>
            <a:endParaRPr lang="en-US" sz="7200" dirty="0">
              <a:solidFill>
                <a:schemeClr val="accent4"/>
              </a:solidFill>
              <a:latin typeface="TAN Nightingale"/>
            </a:endParaRPr>
          </a:p>
        </p:txBody>
      </p:sp>
      <p:pic>
        <p:nvPicPr>
          <p:cNvPr id="1026" name="Picture 2" descr="Github Logo - Free social media icons">
            <a:hlinkClick r:id="rId2"/>
            <a:extLst>
              <a:ext uri="{FF2B5EF4-FFF2-40B4-BE49-F238E27FC236}">
                <a16:creationId xmlns:a16="http://schemas.microsoft.com/office/drawing/2014/main" id="{88A42C50-E5D9-5AF7-F923-9175488A8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7077233"/>
            <a:ext cx="9144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0224" y="1028700"/>
            <a:ext cx="9470192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280"/>
              </a:lnSpc>
              <a:spcBef>
                <a:spcPct val="0"/>
              </a:spcBef>
            </a:pPr>
            <a:r>
              <a:rPr lang="en-US" sz="14400">
                <a:solidFill>
                  <a:srgbClr val="FFFFFF"/>
                </a:solidFill>
                <a:latin typeface="TAN Nightingale"/>
              </a:rPr>
              <a:t>Contents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825974" y="1028700"/>
            <a:ext cx="1870567" cy="1870567"/>
            <a:chOff x="0" y="0"/>
            <a:chExt cx="2494090" cy="249409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494090" cy="2494090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CA91F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617743" y="617743"/>
              <a:ext cx="1257488" cy="1257488"/>
            </a:xfrm>
            <a:prstGeom prst="line">
              <a:avLst/>
            </a:prstGeom>
            <a:ln w="46187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1056427" y="1869583"/>
              <a:ext cx="832442" cy="0"/>
            </a:xfrm>
            <a:prstGeom prst="line">
              <a:avLst/>
            </a:prstGeom>
            <a:ln w="46187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1869583" y="1015750"/>
              <a:ext cx="0" cy="832442"/>
            </a:xfrm>
            <a:prstGeom prst="line">
              <a:avLst/>
            </a:prstGeom>
            <a:ln w="46187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AutoShape 10"/>
          <p:cNvSpPr/>
          <p:nvPr/>
        </p:nvSpPr>
        <p:spPr>
          <a:xfrm>
            <a:off x="6508886" y="7642472"/>
            <a:ext cx="10760634" cy="0"/>
          </a:xfrm>
          <a:prstGeom prst="line">
            <a:avLst/>
          </a:prstGeom>
          <a:ln w="19050" cap="flat">
            <a:solidFill>
              <a:srgbClr val="F2FC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6508886" y="8419077"/>
            <a:ext cx="10760634" cy="0"/>
          </a:xfrm>
          <a:prstGeom prst="line">
            <a:avLst/>
          </a:prstGeom>
          <a:ln w="19050" cap="flat">
            <a:solidFill>
              <a:srgbClr val="F2FC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6508886" y="9195682"/>
            <a:ext cx="10760634" cy="0"/>
          </a:xfrm>
          <a:prstGeom prst="line">
            <a:avLst/>
          </a:prstGeom>
          <a:ln w="19050" cap="flat">
            <a:solidFill>
              <a:srgbClr val="F2FC7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508886" y="7142092"/>
            <a:ext cx="386175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Gordita"/>
              </a:rPr>
              <a:t>INTRODUCTION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08886" y="7976753"/>
            <a:ext cx="3861750" cy="46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Gordita"/>
              </a:rPr>
              <a:t>PROJECT DETAILS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162300"/>
            <a:ext cx="8486230" cy="46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</a:pPr>
            <a:r>
              <a:rPr lang="en-US" sz="2799" dirty="0">
                <a:solidFill>
                  <a:srgbClr val="FFFFFF"/>
                </a:solidFill>
                <a:latin typeface="Gordita"/>
              </a:rPr>
              <a:t>Navigating the </a:t>
            </a:r>
            <a:r>
              <a:rPr lang="en-US" sz="2799" dirty="0" err="1">
                <a:solidFill>
                  <a:srgbClr val="0A0A0A"/>
                </a:solidFill>
                <a:latin typeface="Gordita"/>
              </a:rPr>
              <a:t>insandouts</a:t>
            </a:r>
            <a:r>
              <a:rPr lang="en-US" sz="2799" dirty="0">
                <a:solidFill>
                  <a:srgbClr val="0A0A0A"/>
                </a:solidFill>
                <a:latin typeface="Gordita"/>
              </a:rPr>
              <a:t>  </a:t>
            </a:r>
            <a:r>
              <a:rPr lang="en-US" sz="2799" dirty="0">
                <a:solidFill>
                  <a:srgbClr val="FFFFFF"/>
                </a:solidFill>
                <a:latin typeface="Gordita"/>
              </a:rPr>
              <a:t>of </a:t>
            </a:r>
            <a:r>
              <a:rPr lang="en-US" sz="2799" dirty="0">
                <a:solidFill>
                  <a:srgbClr val="0A0A0A"/>
                </a:solidFill>
                <a:latin typeface="Gordita"/>
              </a:rPr>
              <a:t>Q&amp;A</a:t>
            </a:r>
            <a:endParaRPr lang="en-US" sz="2799" dirty="0">
              <a:solidFill>
                <a:srgbClr val="FFFFFF"/>
              </a:solidFill>
              <a:latin typeface="Gordit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3743902" y="3233420"/>
            <a:ext cx="639069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40"/>
              </a:lnSpc>
              <a:spcBef>
                <a:spcPct val="0"/>
              </a:spcBef>
            </a:pPr>
            <a:r>
              <a:rPr lang="en-US" sz="2600" dirty="0">
                <a:solidFill>
                  <a:srgbClr val="CA91F8"/>
                </a:solidFill>
                <a:latin typeface="TAN Nightingale"/>
              </a:rPr>
              <a:t>ins and outs     the Project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B60B6EBC-3817-FEDA-428C-7AA43A8B0107}"/>
              </a:ext>
            </a:extLst>
          </p:cNvPr>
          <p:cNvSpPr txBox="1"/>
          <p:nvPr/>
        </p:nvSpPr>
        <p:spPr>
          <a:xfrm>
            <a:off x="6514213" y="8709691"/>
            <a:ext cx="3861750" cy="46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Gordita"/>
              </a:rPr>
              <a:t>UML</a:t>
            </a: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643370"/>
            <a:ext cx="16230600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17280"/>
              </a:lnSpc>
              <a:spcBef>
                <a:spcPct val="0"/>
              </a:spcBef>
            </a:pPr>
            <a:r>
              <a:rPr lang="en-US" sz="14400">
                <a:solidFill>
                  <a:srgbClr val="FFFFFF"/>
                </a:solidFill>
                <a:latin typeface="TAN Nightingale"/>
              </a:rPr>
              <a:t>Introduction</a:t>
            </a:r>
          </a:p>
        </p:txBody>
      </p:sp>
      <p:grpSp>
        <p:nvGrpSpPr>
          <p:cNvPr id="3" name="Group 3"/>
          <p:cNvGrpSpPr/>
          <p:nvPr/>
        </p:nvGrpSpPr>
        <p:grpSpPr>
          <a:xfrm rot="-2700000">
            <a:off x="-1639491" y="1657796"/>
            <a:ext cx="6971409" cy="6971409"/>
            <a:chOff x="0" y="0"/>
            <a:chExt cx="9295211" cy="929521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9295211" cy="9295211"/>
              <a:chOff x="0" y="0"/>
              <a:chExt cx="812800" cy="8128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CA91F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2302264" y="2302264"/>
              <a:ext cx="4686528" cy="4686528"/>
            </a:xfrm>
            <a:prstGeom prst="line">
              <a:avLst/>
            </a:prstGeom>
            <a:ln w="172134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utoShape 8"/>
            <p:cNvSpPr/>
            <p:nvPr/>
          </p:nvSpPr>
          <p:spPr>
            <a:xfrm>
              <a:off x="3937193" y="6967739"/>
              <a:ext cx="3102423" cy="0"/>
            </a:xfrm>
            <a:prstGeom prst="line">
              <a:avLst/>
            </a:prstGeom>
            <a:ln w="172134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9"/>
            <p:cNvSpPr/>
            <p:nvPr/>
          </p:nvSpPr>
          <p:spPr>
            <a:xfrm flipV="1">
              <a:off x="6967739" y="3785592"/>
              <a:ext cx="0" cy="3102423"/>
            </a:xfrm>
            <a:prstGeom prst="line">
              <a:avLst/>
            </a:prstGeom>
            <a:ln w="172134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-2700000">
            <a:off x="13102425" y="1513376"/>
            <a:ext cx="6971409" cy="6971409"/>
            <a:chOff x="0" y="0"/>
            <a:chExt cx="9295211" cy="929521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295211" cy="929521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CA91F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14" name="AutoShape 14"/>
            <p:cNvSpPr/>
            <p:nvPr/>
          </p:nvSpPr>
          <p:spPr>
            <a:xfrm>
              <a:off x="2302264" y="2302264"/>
              <a:ext cx="4686528" cy="4686528"/>
            </a:xfrm>
            <a:prstGeom prst="line">
              <a:avLst/>
            </a:prstGeom>
            <a:ln w="172134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5"/>
            <p:cNvSpPr/>
            <p:nvPr/>
          </p:nvSpPr>
          <p:spPr>
            <a:xfrm>
              <a:off x="3937193" y="6967739"/>
              <a:ext cx="3102423" cy="0"/>
            </a:xfrm>
            <a:prstGeom prst="line">
              <a:avLst/>
            </a:prstGeom>
            <a:ln w="172134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AutoShape 16"/>
            <p:cNvSpPr/>
            <p:nvPr/>
          </p:nvSpPr>
          <p:spPr>
            <a:xfrm flipV="1">
              <a:off x="6967739" y="3785592"/>
              <a:ext cx="0" cy="3102423"/>
            </a:xfrm>
            <a:prstGeom prst="line">
              <a:avLst/>
            </a:prstGeom>
            <a:ln w="172134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COMP301 Project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1028700" y="1028700"/>
            <a:ext cx="10214029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280"/>
              </a:lnSpc>
              <a:spcBef>
                <a:spcPct val="0"/>
              </a:spcBef>
            </a:pPr>
            <a:r>
              <a:rPr lang="en-US" sz="14400" dirty="0">
                <a:solidFill>
                  <a:srgbClr val="FFFFFF"/>
                </a:solidFill>
                <a:latin typeface="TAN Nightingale"/>
              </a:rPr>
              <a:t>Our Team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4016" y="3924300"/>
            <a:ext cx="3342873" cy="43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Ahmed Khaled 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736875" y="1028700"/>
            <a:ext cx="1870567" cy="1870567"/>
            <a:chOff x="0" y="0"/>
            <a:chExt cx="2494090" cy="2494090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2494090" cy="2494090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CA91F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9" name="AutoShape 29"/>
            <p:cNvSpPr/>
            <p:nvPr/>
          </p:nvSpPr>
          <p:spPr>
            <a:xfrm>
              <a:off x="617743" y="617743"/>
              <a:ext cx="1257488" cy="1257488"/>
            </a:xfrm>
            <a:prstGeom prst="line">
              <a:avLst/>
            </a:prstGeom>
            <a:ln w="46187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AutoShape 30"/>
            <p:cNvSpPr/>
            <p:nvPr/>
          </p:nvSpPr>
          <p:spPr>
            <a:xfrm>
              <a:off x="1056427" y="1869583"/>
              <a:ext cx="832442" cy="0"/>
            </a:xfrm>
            <a:prstGeom prst="line">
              <a:avLst/>
            </a:prstGeom>
            <a:ln w="46187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AutoShape 31"/>
            <p:cNvSpPr/>
            <p:nvPr/>
          </p:nvSpPr>
          <p:spPr>
            <a:xfrm flipV="1">
              <a:off x="1869583" y="1015750"/>
              <a:ext cx="0" cy="832442"/>
            </a:xfrm>
            <a:prstGeom prst="line">
              <a:avLst/>
            </a:prstGeom>
            <a:ln w="46187" cap="flat">
              <a:solidFill>
                <a:srgbClr val="CA91F8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Box 15">
            <a:extLst>
              <a:ext uri="{FF2B5EF4-FFF2-40B4-BE49-F238E27FC236}">
                <a16:creationId xmlns:a16="http://schemas.microsoft.com/office/drawing/2014/main" id="{5C6CE353-B3EF-E5EB-1062-E137ED794F6F}"/>
              </a:ext>
            </a:extLst>
          </p:cNvPr>
          <p:cNvSpPr txBox="1"/>
          <p:nvPr/>
        </p:nvSpPr>
        <p:spPr>
          <a:xfrm>
            <a:off x="381000" y="4686300"/>
            <a:ext cx="3467100" cy="43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Nada Magdy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3B887E10-8764-7A33-F37F-8DD3A6A96459}"/>
              </a:ext>
            </a:extLst>
          </p:cNvPr>
          <p:cNvSpPr txBox="1"/>
          <p:nvPr/>
        </p:nvSpPr>
        <p:spPr>
          <a:xfrm>
            <a:off x="685800" y="5448300"/>
            <a:ext cx="3467100" cy="43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Noureen Ahmed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id="{ED07B86C-AFBC-DF57-2432-37B4B0EE831D}"/>
              </a:ext>
            </a:extLst>
          </p:cNvPr>
          <p:cNvSpPr txBox="1"/>
          <p:nvPr/>
        </p:nvSpPr>
        <p:spPr>
          <a:xfrm>
            <a:off x="228600" y="6210300"/>
            <a:ext cx="3467100" cy="43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Sherif </a:t>
            </a:r>
            <a:r>
              <a:rPr lang="en-US" sz="2799" dirty="0" err="1">
                <a:solidFill>
                  <a:srgbClr val="FFFFFF"/>
                </a:solidFill>
                <a:latin typeface="Gordita" panose="020B0604020202020204" charset="0"/>
                <a:cs typeface="Gordita" panose="020B0604020202020204" charset="0"/>
              </a:rPr>
              <a:t>Lotfy</a:t>
            </a:r>
            <a:endParaRPr lang="en-US" sz="2799" dirty="0">
              <a:solidFill>
                <a:srgbClr val="FFFFFF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241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530172" y="1302271"/>
            <a:ext cx="17583849" cy="24237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60"/>
              </a:lnSpc>
              <a:spcBef>
                <a:spcPct val="0"/>
              </a:spcBef>
            </a:pPr>
            <a:r>
              <a:rPr lang="en-US" sz="12500" dirty="0">
                <a:solidFill>
                  <a:srgbClr val="FFFFFF"/>
                </a:solidFill>
                <a:latin typeface="TAN Nightingale"/>
              </a:rPr>
              <a:t>What is </a:t>
            </a:r>
            <a:r>
              <a:rPr lang="en-US" sz="12500" dirty="0" err="1">
                <a:solidFill>
                  <a:srgbClr val="FFFFFF"/>
                </a:solidFill>
                <a:latin typeface="TAN Nightingale"/>
              </a:rPr>
              <a:t>Swuber</a:t>
            </a:r>
            <a:r>
              <a:rPr lang="en-US" sz="12500" dirty="0">
                <a:solidFill>
                  <a:srgbClr val="FFFFFF"/>
                </a:solidFill>
                <a:latin typeface="TAN Nightingale"/>
              </a:rPr>
              <a:t>?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5E8B1F93-057E-382D-0C00-F59DD067ABA5}"/>
              </a:ext>
            </a:extLst>
          </p:cNvPr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COMP301 Project</a:t>
            </a:r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0C80B89E-E1D4-461E-2156-A6DD924D12AB}"/>
              </a:ext>
            </a:extLst>
          </p:cNvPr>
          <p:cNvGrpSpPr/>
          <p:nvPr/>
        </p:nvGrpSpPr>
        <p:grpSpPr>
          <a:xfrm rot="18937376">
            <a:off x="559937" y="3776858"/>
            <a:ext cx="1870567" cy="1870567"/>
            <a:chOff x="0" y="0"/>
            <a:chExt cx="2494090" cy="2494090"/>
          </a:xfrm>
        </p:grpSpPr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2355D9A6-1859-C61C-51D8-846644E111D1}"/>
                </a:ext>
              </a:extLst>
            </p:cNvPr>
            <p:cNvGrpSpPr/>
            <p:nvPr/>
          </p:nvGrpSpPr>
          <p:grpSpPr>
            <a:xfrm>
              <a:off x="0" y="0"/>
              <a:ext cx="2494090" cy="2494090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39E0DD30-30CD-42D8-5ED3-6FD42BFE2AB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2FC7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05AA320C-843D-C3D3-6AF0-9923D4C74E2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BCD62F3D-A2D5-52E4-98D8-AF0DC95DC7FB}"/>
                </a:ext>
              </a:extLst>
            </p:cNvPr>
            <p:cNvSpPr/>
            <p:nvPr/>
          </p:nvSpPr>
          <p:spPr>
            <a:xfrm>
              <a:off x="617743" y="617743"/>
              <a:ext cx="1257488" cy="1257488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8">
              <a:extLst>
                <a:ext uri="{FF2B5EF4-FFF2-40B4-BE49-F238E27FC236}">
                  <a16:creationId xmlns:a16="http://schemas.microsoft.com/office/drawing/2014/main" id="{85AB820C-92F3-4657-8D32-A1B08EE3B2D6}"/>
                </a:ext>
              </a:extLst>
            </p:cNvPr>
            <p:cNvSpPr/>
            <p:nvPr/>
          </p:nvSpPr>
          <p:spPr>
            <a:xfrm>
              <a:off x="1056427" y="1869583"/>
              <a:ext cx="832442" cy="0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19">
              <a:extLst>
                <a:ext uri="{FF2B5EF4-FFF2-40B4-BE49-F238E27FC236}">
                  <a16:creationId xmlns:a16="http://schemas.microsoft.com/office/drawing/2014/main" id="{AD19DC0F-ACFC-79EA-4B59-C7E280D51E18}"/>
                </a:ext>
              </a:extLst>
            </p:cNvPr>
            <p:cNvSpPr/>
            <p:nvPr/>
          </p:nvSpPr>
          <p:spPr>
            <a:xfrm flipV="1">
              <a:off x="1869583" y="1015750"/>
              <a:ext cx="0" cy="832442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3">
            <a:extLst>
              <a:ext uri="{FF2B5EF4-FFF2-40B4-BE49-F238E27FC236}">
                <a16:creationId xmlns:a16="http://schemas.microsoft.com/office/drawing/2014/main" id="{0DA9B28D-18B1-BB4A-01A6-50268D7676BA}"/>
              </a:ext>
            </a:extLst>
          </p:cNvPr>
          <p:cNvSpPr txBox="1"/>
          <p:nvPr/>
        </p:nvSpPr>
        <p:spPr>
          <a:xfrm>
            <a:off x="3286175" y="3848100"/>
            <a:ext cx="12172293" cy="5883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 rtl="1">
              <a:lnSpc>
                <a:spcPct val="150000"/>
              </a:lnSpc>
            </a:pPr>
            <a:r>
              <a:rPr lang="en-US" sz="2100" dirty="0" err="1">
                <a:solidFill>
                  <a:srgbClr val="FFFFFF"/>
                </a:solidFill>
                <a:latin typeface="Gordita"/>
              </a:rPr>
              <a:t>Swuber</a:t>
            </a:r>
            <a:r>
              <a:rPr lang="en-US" sz="2100" dirty="0">
                <a:solidFill>
                  <a:srgbClr val="FFFFFF"/>
                </a:solidFill>
                <a:latin typeface="Gordita"/>
              </a:rPr>
              <a:t> is a ridesharing application, similar to uber for car rides / shuttle but integrating but also mashed up with some features of SWVL, hence the name being a mashup of the two</a:t>
            </a:r>
          </a:p>
          <a:p>
            <a:pPr algn="l" rtl="1">
              <a:lnSpc>
                <a:spcPct val="150000"/>
              </a:lnSpc>
            </a:pPr>
            <a:endParaRPr lang="en-US" sz="2100" dirty="0">
              <a:solidFill>
                <a:schemeClr val="bg1"/>
              </a:solidFill>
              <a:latin typeface="Gordita"/>
            </a:endParaRPr>
          </a:p>
          <a:p>
            <a:r>
              <a:rPr lang="en-US" sz="20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 Planning</a:t>
            </a:r>
            <a:r>
              <a:rPr lang="en-US" sz="20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Users can easily plan their rides by selecting pick-up and drop-off locations, with real-time updates on available options and estimated arrival times.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Shuttle Services</a:t>
            </a:r>
            <a:r>
              <a:rPr lang="en-US" sz="20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</a:t>
            </a:r>
            <a:r>
              <a:rPr lang="en-US" sz="2000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Swuber</a:t>
            </a:r>
            <a:r>
              <a:rPr lang="en-US" sz="20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offers reliable shuttle services, allowing users to book shared rides along predetermined routes, making transportation convenient and cost-effective.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 History</a:t>
            </a:r>
            <a:r>
              <a:rPr lang="en-US" sz="20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Users have access to a detailed history of their rides, enabling them to track past journeys, view receipts, and manage their transportation preferences.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Offers and Discounts</a:t>
            </a:r>
            <a:r>
              <a:rPr lang="en-US" sz="20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</a:t>
            </a:r>
            <a:r>
              <a:rPr lang="en-US" sz="2000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Swuber</a:t>
            </a:r>
            <a:r>
              <a:rPr lang="en-US" sz="20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provides various promotional offers and discounts, rewarding users and making rides more affordable.</a:t>
            </a:r>
          </a:p>
          <a:p>
            <a:pPr algn="l" rtl="1">
              <a:lnSpc>
                <a:spcPct val="150000"/>
              </a:lnSpc>
            </a:pPr>
            <a:endParaRPr lang="en-US" sz="2100" dirty="0">
              <a:solidFill>
                <a:srgbClr val="FFFFFF"/>
              </a:solidFill>
              <a:latin typeface="Gordita"/>
            </a:endParaRPr>
          </a:p>
        </p:txBody>
      </p:sp>
    </p:spTree>
    <p:extLst>
      <p:ext uri="{BB962C8B-B14F-4D97-AF65-F5344CB8AC3E}">
        <p14:creationId xmlns:p14="http://schemas.microsoft.com/office/powerpoint/2010/main" val="104470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234375" y="1015029"/>
            <a:ext cx="13892434" cy="2590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60"/>
              </a:lnSpc>
              <a:spcBef>
                <a:spcPct val="0"/>
              </a:spcBef>
            </a:pPr>
            <a:r>
              <a:rPr lang="en-US" sz="14400" dirty="0">
                <a:solidFill>
                  <a:srgbClr val="FFFFFF"/>
                </a:solidFill>
                <a:latin typeface="TAN Nightingale"/>
              </a:rPr>
              <a:t>UML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5E8B1F93-057E-382D-0C00-F59DD067ABA5}"/>
              </a:ext>
            </a:extLst>
          </p:cNvPr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COMP301 Project</a:t>
            </a:r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0C80B89E-E1D4-461E-2156-A6DD924D12AB}"/>
              </a:ext>
            </a:extLst>
          </p:cNvPr>
          <p:cNvGrpSpPr/>
          <p:nvPr/>
        </p:nvGrpSpPr>
        <p:grpSpPr>
          <a:xfrm rot="5400000">
            <a:off x="15621000" y="647700"/>
            <a:ext cx="1870567" cy="1870567"/>
            <a:chOff x="0" y="0"/>
            <a:chExt cx="2494090" cy="2494090"/>
          </a:xfrm>
        </p:grpSpPr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2355D9A6-1859-C61C-51D8-846644E111D1}"/>
                </a:ext>
              </a:extLst>
            </p:cNvPr>
            <p:cNvGrpSpPr/>
            <p:nvPr/>
          </p:nvGrpSpPr>
          <p:grpSpPr>
            <a:xfrm>
              <a:off x="0" y="0"/>
              <a:ext cx="2494090" cy="2494090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39E0DD30-30CD-42D8-5ED3-6FD42BFE2AB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2FC7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05AA320C-843D-C3D3-6AF0-9923D4C74E2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BCD62F3D-A2D5-52E4-98D8-AF0DC95DC7FB}"/>
                </a:ext>
              </a:extLst>
            </p:cNvPr>
            <p:cNvSpPr/>
            <p:nvPr/>
          </p:nvSpPr>
          <p:spPr>
            <a:xfrm>
              <a:off x="617743" y="617743"/>
              <a:ext cx="1257488" cy="1257488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8">
              <a:extLst>
                <a:ext uri="{FF2B5EF4-FFF2-40B4-BE49-F238E27FC236}">
                  <a16:creationId xmlns:a16="http://schemas.microsoft.com/office/drawing/2014/main" id="{85AB820C-92F3-4657-8D32-A1B08EE3B2D6}"/>
                </a:ext>
              </a:extLst>
            </p:cNvPr>
            <p:cNvSpPr/>
            <p:nvPr/>
          </p:nvSpPr>
          <p:spPr>
            <a:xfrm>
              <a:off x="1056427" y="1869583"/>
              <a:ext cx="832442" cy="0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19">
              <a:extLst>
                <a:ext uri="{FF2B5EF4-FFF2-40B4-BE49-F238E27FC236}">
                  <a16:creationId xmlns:a16="http://schemas.microsoft.com/office/drawing/2014/main" id="{AD19DC0F-ACFC-79EA-4B59-C7E280D51E18}"/>
                </a:ext>
              </a:extLst>
            </p:cNvPr>
            <p:cNvSpPr/>
            <p:nvPr/>
          </p:nvSpPr>
          <p:spPr>
            <a:xfrm flipV="1">
              <a:off x="1869583" y="1015750"/>
              <a:ext cx="0" cy="832442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3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57E1836F-1351-D9C0-D2CF-0D694F366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509" y="1111007"/>
            <a:ext cx="9269976" cy="885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9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287568" y="539063"/>
            <a:ext cx="14295345" cy="2281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60"/>
              </a:lnSpc>
              <a:spcBef>
                <a:spcPct val="0"/>
              </a:spcBef>
            </a:pPr>
            <a:r>
              <a:rPr lang="en-US" sz="8800" dirty="0">
                <a:solidFill>
                  <a:srgbClr val="FFFFFF"/>
                </a:solidFill>
                <a:latin typeface="TAN Nightingale"/>
              </a:rPr>
              <a:t>Classes &amp; Relations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5E8B1F93-057E-382D-0C00-F59DD067ABA5}"/>
              </a:ext>
            </a:extLst>
          </p:cNvPr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COMP301 Project</a:t>
            </a:r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0C80B89E-E1D4-461E-2156-A6DD924D12AB}"/>
              </a:ext>
            </a:extLst>
          </p:cNvPr>
          <p:cNvGrpSpPr/>
          <p:nvPr/>
        </p:nvGrpSpPr>
        <p:grpSpPr>
          <a:xfrm rot="5400000">
            <a:off x="15544800" y="744476"/>
            <a:ext cx="1870567" cy="1870567"/>
            <a:chOff x="0" y="0"/>
            <a:chExt cx="2494090" cy="2494090"/>
          </a:xfrm>
        </p:grpSpPr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2355D9A6-1859-C61C-51D8-846644E111D1}"/>
                </a:ext>
              </a:extLst>
            </p:cNvPr>
            <p:cNvGrpSpPr/>
            <p:nvPr/>
          </p:nvGrpSpPr>
          <p:grpSpPr>
            <a:xfrm>
              <a:off x="0" y="0"/>
              <a:ext cx="2494090" cy="2494090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39E0DD30-30CD-42D8-5ED3-6FD42BFE2ABB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2FC7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05AA320C-843D-C3D3-6AF0-9923D4C74E27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BCD62F3D-A2D5-52E4-98D8-AF0DC95DC7FB}"/>
                </a:ext>
              </a:extLst>
            </p:cNvPr>
            <p:cNvSpPr/>
            <p:nvPr/>
          </p:nvSpPr>
          <p:spPr>
            <a:xfrm>
              <a:off x="617743" y="617743"/>
              <a:ext cx="1257488" cy="1257488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8">
              <a:extLst>
                <a:ext uri="{FF2B5EF4-FFF2-40B4-BE49-F238E27FC236}">
                  <a16:creationId xmlns:a16="http://schemas.microsoft.com/office/drawing/2014/main" id="{85AB820C-92F3-4657-8D32-A1B08EE3B2D6}"/>
                </a:ext>
              </a:extLst>
            </p:cNvPr>
            <p:cNvSpPr/>
            <p:nvPr/>
          </p:nvSpPr>
          <p:spPr>
            <a:xfrm>
              <a:off x="1056427" y="1869583"/>
              <a:ext cx="832442" cy="0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19">
              <a:extLst>
                <a:ext uri="{FF2B5EF4-FFF2-40B4-BE49-F238E27FC236}">
                  <a16:creationId xmlns:a16="http://schemas.microsoft.com/office/drawing/2014/main" id="{AD19DC0F-ACFC-79EA-4B59-C7E280D51E18}"/>
                </a:ext>
              </a:extLst>
            </p:cNvPr>
            <p:cNvSpPr/>
            <p:nvPr/>
          </p:nvSpPr>
          <p:spPr>
            <a:xfrm flipV="1">
              <a:off x="1869583" y="1015750"/>
              <a:ext cx="0" cy="832442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B7D4C46-8A3D-55F7-81A6-3A794547D53E}"/>
              </a:ext>
            </a:extLst>
          </p:cNvPr>
          <p:cNvSpPr txBox="1"/>
          <p:nvPr/>
        </p:nvSpPr>
        <p:spPr>
          <a:xfrm>
            <a:off x="383634" y="2880501"/>
            <a:ext cx="2717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1. User Class</a:t>
            </a:r>
            <a:endParaRPr lang="en-GB" sz="3200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79399-9E73-82BB-1B1C-C00D45E06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93" y="3525320"/>
            <a:ext cx="2260857" cy="59386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821A9F-0CB2-59E1-C525-AD75F5398B28}"/>
              </a:ext>
            </a:extLst>
          </p:cNvPr>
          <p:cNvSpPr txBox="1"/>
          <p:nvPr/>
        </p:nvSpPr>
        <p:spPr>
          <a:xfrm>
            <a:off x="10337200" y="2820457"/>
            <a:ext cx="2717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Methods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529BDF-61D4-C05E-6AF1-9C73D64EF705}"/>
              </a:ext>
            </a:extLst>
          </p:cNvPr>
          <p:cNvSpPr txBox="1"/>
          <p:nvPr/>
        </p:nvSpPr>
        <p:spPr>
          <a:xfrm>
            <a:off x="10418089" y="3553300"/>
            <a:ext cx="5334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Setters &amp; Getters:</a:t>
            </a:r>
          </a:p>
          <a:p>
            <a:b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</a:b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getName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, </a:t>
            </a: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setName</a:t>
            </a: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getEmail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, </a:t>
            </a: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setEmail</a:t>
            </a: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getPhoneNo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, </a:t>
            </a: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setPhoneNo</a:t>
            </a: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getRideHistory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fetches ride history of the user</a:t>
            </a: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register: registers a new user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Login: logs in a registered user</a:t>
            </a: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rateDriver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allows user to give a driver rating for a ride</a:t>
            </a: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updateProfile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updates user info</a:t>
            </a:r>
          </a:p>
          <a:p>
            <a:pPr marL="285750" indent="-285750">
              <a:buFontTx/>
              <a:buChar char="-"/>
            </a:pP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Add/</a:t>
            </a: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RemoveCard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adds or removes payment card</a:t>
            </a: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getCards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fetches all cards stored for the user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42826-AA5A-6977-EA25-32A221D33B6B}"/>
              </a:ext>
            </a:extLst>
          </p:cNvPr>
          <p:cNvSpPr txBox="1"/>
          <p:nvPr/>
        </p:nvSpPr>
        <p:spPr>
          <a:xfrm>
            <a:off x="3939393" y="2940545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Variables &amp; types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6A603A-E7C9-5400-6E4A-8E130A5DFE05}"/>
              </a:ext>
            </a:extLst>
          </p:cNvPr>
          <p:cNvSpPr txBox="1"/>
          <p:nvPr/>
        </p:nvSpPr>
        <p:spPr>
          <a:xfrm>
            <a:off x="3944082" y="3790371"/>
            <a:ext cx="533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userID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: String</a:t>
            </a:r>
          </a:p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Name : String</a:t>
            </a: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Email : String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phoneNumber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: String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rideHistory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: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RideHistory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(Assoc. Class)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savedPaymentOptions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List of Cards 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19B9C7-E481-2E23-3DC5-29D36328B4C4}"/>
              </a:ext>
            </a:extLst>
          </p:cNvPr>
          <p:cNvSpPr txBox="1"/>
          <p:nvPr/>
        </p:nvSpPr>
        <p:spPr>
          <a:xfrm>
            <a:off x="3974562" y="6042941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Relations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822B5-20F1-CB98-F7CB-5FB263052793}"/>
              </a:ext>
            </a:extLst>
          </p:cNvPr>
          <p:cNvSpPr txBox="1"/>
          <p:nvPr/>
        </p:nvSpPr>
        <p:spPr>
          <a:xfrm>
            <a:off x="3979251" y="6669760"/>
            <a:ext cx="533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Associated with ride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Associated with payment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Associated with ride planner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Has Ride History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Can book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shuttleRides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for self + multiple others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Composition with cards class (Payment Cards linked to the user)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Associated with rating, user rates the drivers for a given ride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183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B88B1-6E04-8CDE-6015-53FA1E473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68F486AB-7C6E-7E72-6E6C-950DE525BDEC}"/>
              </a:ext>
            </a:extLst>
          </p:cNvPr>
          <p:cNvSpPr txBox="1"/>
          <p:nvPr/>
        </p:nvSpPr>
        <p:spPr>
          <a:xfrm>
            <a:off x="276682" y="647700"/>
            <a:ext cx="14295345" cy="2281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60"/>
              </a:lnSpc>
              <a:spcBef>
                <a:spcPct val="0"/>
              </a:spcBef>
            </a:pPr>
            <a:r>
              <a:rPr lang="en-US" sz="8800" dirty="0">
                <a:solidFill>
                  <a:srgbClr val="FFFFFF"/>
                </a:solidFill>
                <a:latin typeface="TAN Nightingale"/>
              </a:rPr>
              <a:t>Classes &amp; Relations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956E154F-4DF1-E02B-9923-60870F10C789}"/>
              </a:ext>
            </a:extLst>
          </p:cNvPr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COMP301 Project</a:t>
            </a:r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F11F9D23-F06B-B8CB-599A-3527AC7A3DD1}"/>
              </a:ext>
            </a:extLst>
          </p:cNvPr>
          <p:cNvGrpSpPr/>
          <p:nvPr/>
        </p:nvGrpSpPr>
        <p:grpSpPr>
          <a:xfrm rot="5400000">
            <a:off x="15544800" y="853113"/>
            <a:ext cx="1870567" cy="1870567"/>
            <a:chOff x="0" y="0"/>
            <a:chExt cx="2494090" cy="2494090"/>
          </a:xfrm>
        </p:grpSpPr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85F9DB72-FD86-93B1-3EED-921B27CFE10B}"/>
                </a:ext>
              </a:extLst>
            </p:cNvPr>
            <p:cNvGrpSpPr/>
            <p:nvPr/>
          </p:nvGrpSpPr>
          <p:grpSpPr>
            <a:xfrm>
              <a:off x="0" y="0"/>
              <a:ext cx="2494090" cy="2494090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A6CF73A0-1FB2-88EB-8883-D5A08AF1B085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2FC7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C875CDB3-B9B2-9195-3E47-25A0DCF11EE1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8DE193BC-F8D7-3A3B-0C65-07B9826CA1E0}"/>
                </a:ext>
              </a:extLst>
            </p:cNvPr>
            <p:cNvSpPr/>
            <p:nvPr/>
          </p:nvSpPr>
          <p:spPr>
            <a:xfrm>
              <a:off x="617743" y="617743"/>
              <a:ext cx="1257488" cy="1257488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8">
              <a:extLst>
                <a:ext uri="{FF2B5EF4-FFF2-40B4-BE49-F238E27FC236}">
                  <a16:creationId xmlns:a16="http://schemas.microsoft.com/office/drawing/2014/main" id="{BFC88A85-F8D0-A8E8-EABA-8A27D121419A}"/>
                </a:ext>
              </a:extLst>
            </p:cNvPr>
            <p:cNvSpPr/>
            <p:nvPr/>
          </p:nvSpPr>
          <p:spPr>
            <a:xfrm>
              <a:off x="1056427" y="1869583"/>
              <a:ext cx="832442" cy="0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19">
              <a:extLst>
                <a:ext uri="{FF2B5EF4-FFF2-40B4-BE49-F238E27FC236}">
                  <a16:creationId xmlns:a16="http://schemas.microsoft.com/office/drawing/2014/main" id="{3A61C131-4F0A-4DAC-0B7E-597724CD05EF}"/>
                </a:ext>
              </a:extLst>
            </p:cNvPr>
            <p:cNvSpPr/>
            <p:nvPr/>
          </p:nvSpPr>
          <p:spPr>
            <a:xfrm flipV="1">
              <a:off x="1869583" y="1015750"/>
              <a:ext cx="0" cy="832442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794BE65-A956-9DBF-6AC8-E78907056817}"/>
              </a:ext>
            </a:extLst>
          </p:cNvPr>
          <p:cNvSpPr txBox="1"/>
          <p:nvPr/>
        </p:nvSpPr>
        <p:spPr>
          <a:xfrm>
            <a:off x="372748" y="2989138"/>
            <a:ext cx="3098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2. Driver Class</a:t>
            </a:r>
            <a:endParaRPr lang="en-GB" sz="3200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09311E-9B50-CE55-9D36-DAF692D39037}"/>
              </a:ext>
            </a:extLst>
          </p:cNvPr>
          <p:cNvSpPr txBox="1"/>
          <p:nvPr/>
        </p:nvSpPr>
        <p:spPr>
          <a:xfrm>
            <a:off x="10405509" y="3025763"/>
            <a:ext cx="2717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Methods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4BDC6-23FE-25E3-2013-127FCEC713DC}"/>
              </a:ext>
            </a:extLst>
          </p:cNvPr>
          <p:cNvSpPr txBox="1"/>
          <p:nvPr/>
        </p:nvSpPr>
        <p:spPr>
          <a:xfrm>
            <a:off x="10486397" y="3758606"/>
            <a:ext cx="624371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Setters &amp; Getters:</a:t>
            </a:r>
          </a:p>
          <a:p>
            <a:b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</a:b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getName</a:t>
            </a: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getPhoneNo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, </a:t>
            </a: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setPhoneNo</a:t>
            </a: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getRideHistory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fetches ride history of the user</a:t>
            </a: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getVehicle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fetches driver’s vehicle</a:t>
            </a: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getRideCount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fetches driver’s ride count</a:t>
            </a:r>
          </a:p>
          <a:p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updateProfile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updates driver info</a:t>
            </a: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acceptRide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accepts a ride request from a user looking for a ride</a:t>
            </a:r>
          </a:p>
          <a:p>
            <a:pPr marL="285750" indent="-285750">
              <a:buFontTx/>
              <a:buChar char="-"/>
            </a:pPr>
            <a:r>
              <a:rPr lang="en-GB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markRideAsComplete</a:t>
            </a:r>
            <a:r>
              <a:rPr lang="en-GB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ends the ride and brings user to payment, when done, adds ride to both user and driver ride history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CAF04-0A2B-83C2-C420-DFC95F317D1F}"/>
              </a:ext>
            </a:extLst>
          </p:cNvPr>
          <p:cNvSpPr txBox="1"/>
          <p:nvPr/>
        </p:nvSpPr>
        <p:spPr>
          <a:xfrm>
            <a:off x="3928507" y="3049182"/>
            <a:ext cx="403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Variables &amp; types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FF4A1-D420-CFF0-EC59-5482AA0C563F}"/>
              </a:ext>
            </a:extLst>
          </p:cNvPr>
          <p:cNvSpPr txBox="1"/>
          <p:nvPr/>
        </p:nvSpPr>
        <p:spPr>
          <a:xfrm>
            <a:off x="3933196" y="3899008"/>
            <a:ext cx="533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driverID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: String</a:t>
            </a:r>
          </a:p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name : String</a:t>
            </a: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phoneNumber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: String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rideHistory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: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RideHistory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(Assoc. Class)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rating: float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vehicle: Vehicle (Assoc Class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completedRides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int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E277D9-25F7-8496-5BB5-F7411F5FD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7" y="3810005"/>
            <a:ext cx="2670507" cy="55381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B7B9D6-1568-10A4-928A-EF486B248A26}"/>
              </a:ext>
            </a:extLst>
          </p:cNvPr>
          <p:cNvSpPr txBox="1"/>
          <p:nvPr/>
        </p:nvSpPr>
        <p:spPr>
          <a:xfrm>
            <a:off x="3963676" y="6151578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Relations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B47F44-F79A-1520-0A51-2F5087E10770}"/>
              </a:ext>
            </a:extLst>
          </p:cNvPr>
          <p:cNvSpPr txBox="1"/>
          <p:nvPr/>
        </p:nvSpPr>
        <p:spPr>
          <a:xfrm>
            <a:off x="3968365" y="6778397"/>
            <a:ext cx="533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Associated with ride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Associated with rating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Has an associated vehicle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Has Ride History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79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B726D8-8EDD-0AFF-4F63-62700F90D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4EF70D78-BFBB-6332-BCF1-9A2D8FE87C44}"/>
              </a:ext>
            </a:extLst>
          </p:cNvPr>
          <p:cNvSpPr txBox="1"/>
          <p:nvPr/>
        </p:nvSpPr>
        <p:spPr>
          <a:xfrm>
            <a:off x="309339" y="463356"/>
            <a:ext cx="14295345" cy="2281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60"/>
              </a:lnSpc>
              <a:spcBef>
                <a:spcPct val="0"/>
              </a:spcBef>
            </a:pPr>
            <a:r>
              <a:rPr lang="en-US" sz="8800" dirty="0">
                <a:solidFill>
                  <a:srgbClr val="FFFFFF"/>
                </a:solidFill>
                <a:latin typeface="TAN Nightingale"/>
              </a:rPr>
              <a:t>Classes &amp; Relations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33F234BF-CD1D-9BDE-0833-D6F644CE3C30}"/>
              </a:ext>
            </a:extLst>
          </p:cNvPr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COMP301 Project</a:t>
            </a:r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57EF0DC6-D58B-A245-B5C4-83171203F526}"/>
              </a:ext>
            </a:extLst>
          </p:cNvPr>
          <p:cNvGrpSpPr/>
          <p:nvPr/>
        </p:nvGrpSpPr>
        <p:grpSpPr>
          <a:xfrm rot="5400000">
            <a:off x="15621000" y="668769"/>
            <a:ext cx="1870567" cy="1870567"/>
            <a:chOff x="0" y="0"/>
            <a:chExt cx="2494090" cy="2494090"/>
          </a:xfrm>
        </p:grpSpPr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7CC83794-6F22-9886-256B-71FEA90535DE}"/>
                </a:ext>
              </a:extLst>
            </p:cNvPr>
            <p:cNvGrpSpPr/>
            <p:nvPr/>
          </p:nvGrpSpPr>
          <p:grpSpPr>
            <a:xfrm>
              <a:off x="0" y="0"/>
              <a:ext cx="2494090" cy="2494090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40CA06E2-A300-A32A-DC4F-2A79443C2370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2FC7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A7B01D23-9F23-6739-40C8-D221F818495F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9F7CD8C7-E217-00E0-3CDA-BFC81A7D0C80}"/>
                </a:ext>
              </a:extLst>
            </p:cNvPr>
            <p:cNvSpPr/>
            <p:nvPr/>
          </p:nvSpPr>
          <p:spPr>
            <a:xfrm>
              <a:off x="617743" y="617743"/>
              <a:ext cx="1257488" cy="1257488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8">
              <a:extLst>
                <a:ext uri="{FF2B5EF4-FFF2-40B4-BE49-F238E27FC236}">
                  <a16:creationId xmlns:a16="http://schemas.microsoft.com/office/drawing/2014/main" id="{18E3D590-F227-2F2F-A7E7-C14B2686D41E}"/>
                </a:ext>
              </a:extLst>
            </p:cNvPr>
            <p:cNvSpPr/>
            <p:nvPr/>
          </p:nvSpPr>
          <p:spPr>
            <a:xfrm>
              <a:off x="1056427" y="1869583"/>
              <a:ext cx="832442" cy="0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19">
              <a:extLst>
                <a:ext uri="{FF2B5EF4-FFF2-40B4-BE49-F238E27FC236}">
                  <a16:creationId xmlns:a16="http://schemas.microsoft.com/office/drawing/2014/main" id="{F09E4490-F163-6A7F-433E-7C55F08C2AA0}"/>
                </a:ext>
              </a:extLst>
            </p:cNvPr>
            <p:cNvSpPr/>
            <p:nvPr/>
          </p:nvSpPr>
          <p:spPr>
            <a:xfrm flipV="1">
              <a:off x="1869583" y="1015750"/>
              <a:ext cx="0" cy="832442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491B6EC-4C3C-3BD2-047B-E21E254A693C}"/>
              </a:ext>
            </a:extLst>
          </p:cNvPr>
          <p:cNvSpPr txBox="1"/>
          <p:nvPr/>
        </p:nvSpPr>
        <p:spPr>
          <a:xfrm>
            <a:off x="405405" y="2804794"/>
            <a:ext cx="28699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3. Ride Class</a:t>
            </a:r>
            <a:endParaRPr lang="en-GB" sz="3200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DA3B5-A5BA-284F-3F77-CFB741707B66}"/>
              </a:ext>
            </a:extLst>
          </p:cNvPr>
          <p:cNvSpPr txBox="1"/>
          <p:nvPr/>
        </p:nvSpPr>
        <p:spPr>
          <a:xfrm>
            <a:off x="8419482" y="2827278"/>
            <a:ext cx="2717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Methods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65815B-6213-AB1F-24A1-423F1E721C3F}"/>
              </a:ext>
            </a:extLst>
          </p:cNvPr>
          <p:cNvSpPr txBox="1"/>
          <p:nvPr/>
        </p:nvSpPr>
        <p:spPr>
          <a:xfrm>
            <a:off x="8419482" y="3653915"/>
            <a:ext cx="456731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requestRide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Allows user to request rides from one location to another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calculateCost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calculates ride cost, static for each shuttle route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addWaitFine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Adds a fine to the cost if the user holds up the ride/shuttle for a given time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updateRideStatus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a function that updates current ride status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processPayment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starts the payment process 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completeRide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a function called by the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drivers’s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markRideAsComplete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method which ends the ride, but only after payment is verified and then adds to history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6E9280-4EC7-BE6A-375A-0746A7DC6DB1}"/>
              </a:ext>
            </a:extLst>
          </p:cNvPr>
          <p:cNvSpPr txBox="1"/>
          <p:nvPr/>
        </p:nvSpPr>
        <p:spPr>
          <a:xfrm>
            <a:off x="3961164" y="2864838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Variables &amp; types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4FB1C-6584-00CD-0209-9DC462E91454}"/>
              </a:ext>
            </a:extLst>
          </p:cNvPr>
          <p:cNvSpPr txBox="1"/>
          <p:nvPr/>
        </p:nvSpPr>
        <p:spPr>
          <a:xfrm>
            <a:off x="3965853" y="3714664"/>
            <a:ext cx="533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rideID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: String</a:t>
            </a:r>
          </a:p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user: User</a:t>
            </a:r>
            <a:endParaRPr lang="en-GB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-   driver : Driver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Vehicle: Vehicle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Start,end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 Location: String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Cost: double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Status: String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isShuttle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Boolean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waitFineRate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double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Payment: Payment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5CD3671-0D13-1FBE-ED2E-F2990424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60" y="3640779"/>
            <a:ext cx="2763904" cy="618286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279810-DB38-9DC8-D043-B7A18AA9A09D}"/>
              </a:ext>
            </a:extLst>
          </p:cNvPr>
          <p:cNvSpPr txBox="1"/>
          <p:nvPr/>
        </p:nvSpPr>
        <p:spPr>
          <a:xfrm>
            <a:off x="13487400" y="2827278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Relations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6F6458-EFF9-9EE9-F629-CA1F69AA70A8}"/>
              </a:ext>
            </a:extLst>
          </p:cNvPr>
          <p:cNvSpPr txBox="1"/>
          <p:nvPr/>
        </p:nvSpPr>
        <p:spPr>
          <a:xfrm>
            <a:off x="13492089" y="3454097"/>
            <a:ext cx="47959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Has user, driver, vehicle associated with it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Has a child class </a:t>
            </a: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shuttleRide</a:t>
            </a: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 History Aggregate of Ride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Payment cannot exist/composite of ride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220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C6B08-62D0-46A8-706D-6C3EA0FA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>
            <a:extLst>
              <a:ext uri="{FF2B5EF4-FFF2-40B4-BE49-F238E27FC236}">
                <a16:creationId xmlns:a16="http://schemas.microsoft.com/office/drawing/2014/main" id="{6BB0EDED-12E0-BC8F-782F-E3F7722E5D9E}"/>
              </a:ext>
            </a:extLst>
          </p:cNvPr>
          <p:cNvSpPr txBox="1"/>
          <p:nvPr/>
        </p:nvSpPr>
        <p:spPr>
          <a:xfrm>
            <a:off x="309339" y="463356"/>
            <a:ext cx="14295345" cy="22813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160"/>
              </a:lnSpc>
              <a:spcBef>
                <a:spcPct val="0"/>
              </a:spcBef>
            </a:pPr>
            <a:r>
              <a:rPr lang="en-US" sz="8800" dirty="0">
                <a:solidFill>
                  <a:srgbClr val="FFFFFF"/>
                </a:solidFill>
                <a:latin typeface="TAN Nightingale"/>
              </a:rPr>
              <a:t>Classes &amp; Relations</a:t>
            </a:r>
          </a:p>
        </p:txBody>
      </p:sp>
      <p:sp>
        <p:nvSpPr>
          <p:cNvPr id="20" name="TextBox 18">
            <a:extLst>
              <a:ext uri="{FF2B5EF4-FFF2-40B4-BE49-F238E27FC236}">
                <a16:creationId xmlns:a16="http://schemas.microsoft.com/office/drawing/2014/main" id="{3393AE56-4439-7AC4-C4FB-617AC415EDAD}"/>
              </a:ext>
            </a:extLst>
          </p:cNvPr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COMP301 Project</a:t>
            </a:r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29C7F79B-FC38-B635-3DE1-81E0C489EDD1}"/>
              </a:ext>
            </a:extLst>
          </p:cNvPr>
          <p:cNvGrpSpPr/>
          <p:nvPr/>
        </p:nvGrpSpPr>
        <p:grpSpPr>
          <a:xfrm rot="5400000">
            <a:off x="15621000" y="668769"/>
            <a:ext cx="1870567" cy="1870567"/>
            <a:chOff x="0" y="0"/>
            <a:chExt cx="2494090" cy="2494090"/>
          </a:xfrm>
        </p:grpSpPr>
        <p:grpSp>
          <p:nvGrpSpPr>
            <p:cNvPr id="23" name="Group 14">
              <a:extLst>
                <a:ext uri="{FF2B5EF4-FFF2-40B4-BE49-F238E27FC236}">
                  <a16:creationId xmlns:a16="http://schemas.microsoft.com/office/drawing/2014/main" id="{3FA86D15-92BA-C8A1-8CD8-18860E9091A2}"/>
                </a:ext>
              </a:extLst>
            </p:cNvPr>
            <p:cNvGrpSpPr/>
            <p:nvPr/>
          </p:nvGrpSpPr>
          <p:grpSpPr>
            <a:xfrm>
              <a:off x="0" y="0"/>
              <a:ext cx="2494090" cy="2494090"/>
              <a:chOff x="0" y="0"/>
              <a:chExt cx="812800" cy="812800"/>
            </a:xfrm>
          </p:grpSpPr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D5762CAC-7A35-B643-4BDA-D6BEE6B4419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F2FC7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16">
                <a:extLst>
                  <a:ext uri="{FF2B5EF4-FFF2-40B4-BE49-F238E27FC236}">
                    <a16:creationId xmlns:a16="http://schemas.microsoft.com/office/drawing/2014/main" id="{D44F38FE-335B-5217-616D-740ADC225142}"/>
                  </a:ext>
                </a:extLst>
              </p:cNvPr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/>
              </a:p>
            </p:txBody>
          </p:sp>
        </p:grpSp>
        <p:sp>
          <p:nvSpPr>
            <p:cNvPr id="24" name="AutoShape 17">
              <a:extLst>
                <a:ext uri="{FF2B5EF4-FFF2-40B4-BE49-F238E27FC236}">
                  <a16:creationId xmlns:a16="http://schemas.microsoft.com/office/drawing/2014/main" id="{613DF961-E9B0-757A-AC13-DF51AA7C7090}"/>
                </a:ext>
              </a:extLst>
            </p:cNvPr>
            <p:cNvSpPr/>
            <p:nvPr/>
          </p:nvSpPr>
          <p:spPr>
            <a:xfrm>
              <a:off x="617743" y="617743"/>
              <a:ext cx="1257488" cy="1257488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utoShape 18">
              <a:extLst>
                <a:ext uri="{FF2B5EF4-FFF2-40B4-BE49-F238E27FC236}">
                  <a16:creationId xmlns:a16="http://schemas.microsoft.com/office/drawing/2014/main" id="{FEA76591-BC1F-8F03-BD7E-91A39DB63B81}"/>
                </a:ext>
              </a:extLst>
            </p:cNvPr>
            <p:cNvSpPr/>
            <p:nvPr/>
          </p:nvSpPr>
          <p:spPr>
            <a:xfrm>
              <a:off x="1056427" y="1869583"/>
              <a:ext cx="832442" cy="0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AutoShape 19">
              <a:extLst>
                <a:ext uri="{FF2B5EF4-FFF2-40B4-BE49-F238E27FC236}">
                  <a16:creationId xmlns:a16="http://schemas.microsoft.com/office/drawing/2014/main" id="{A8921CB7-F874-4AFD-D7EF-F407194F8024}"/>
                </a:ext>
              </a:extLst>
            </p:cNvPr>
            <p:cNvSpPr/>
            <p:nvPr/>
          </p:nvSpPr>
          <p:spPr>
            <a:xfrm flipV="1">
              <a:off x="1869583" y="1015750"/>
              <a:ext cx="0" cy="832442"/>
            </a:xfrm>
            <a:prstGeom prst="line">
              <a:avLst/>
            </a:prstGeom>
            <a:ln w="46187" cap="flat">
              <a:solidFill>
                <a:srgbClr val="F2FC75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31AF3B2-C9D3-976F-46DE-2FAC578233D8}"/>
              </a:ext>
            </a:extLst>
          </p:cNvPr>
          <p:cNvSpPr txBox="1"/>
          <p:nvPr/>
        </p:nvSpPr>
        <p:spPr>
          <a:xfrm>
            <a:off x="405405" y="2804794"/>
            <a:ext cx="3328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4. Ride History</a:t>
            </a:r>
            <a:endParaRPr lang="en-GB" sz="3200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F5BF98-E070-10E1-897F-F3CCA8F8E316}"/>
              </a:ext>
            </a:extLst>
          </p:cNvPr>
          <p:cNvSpPr txBox="1"/>
          <p:nvPr/>
        </p:nvSpPr>
        <p:spPr>
          <a:xfrm>
            <a:off x="380935" y="6506616"/>
            <a:ext cx="2717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Methods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C1FD53-376E-755E-F868-E1DF59D33452}"/>
              </a:ext>
            </a:extLst>
          </p:cNvPr>
          <p:cNvSpPr txBox="1"/>
          <p:nvPr/>
        </p:nvSpPr>
        <p:spPr>
          <a:xfrm>
            <a:off x="384303" y="5197649"/>
            <a:ext cx="3962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Variables &amp; types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84C10-9DB2-E11D-3A1D-8EA5B3D36144}"/>
              </a:ext>
            </a:extLst>
          </p:cNvPr>
          <p:cNvSpPr txBox="1"/>
          <p:nvPr/>
        </p:nvSpPr>
        <p:spPr>
          <a:xfrm>
            <a:off x="407749" y="5830661"/>
            <a:ext cx="533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rideHistory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List or rides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89C4BD-82C1-E014-3507-BAFD9FA2DE49}"/>
              </a:ext>
            </a:extLst>
          </p:cNvPr>
          <p:cNvSpPr txBox="1"/>
          <p:nvPr/>
        </p:nvSpPr>
        <p:spPr>
          <a:xfrm>
            <a:off x="405405" y="8360149"/>
            <a:ext cx="381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Relations</a:t>
            </a:r>
            <a:endParaRPr lang="en-GB" sz="3200" b="1" u="sng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B899F-CDBF-99C6-89FF-A6A88DED6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1" y="3596635"/>
            <a:ext cx="3152549" cy="1200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950FFC-29AA-97E5-7DA0-CFDE46DA7D76}"/>
              </a:ext>
            </a:extLst>
          </p:cNvPr>
          <p:cNvSpPr txBox="1"/>
          <p:nvPr/>
        </p:nvSpPr>
        <p:spPr>
          <a:xfrm>
            <a:off x="395152" y="7169606"/>
            <a:ext cx="533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addRideToHistory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adds completed rides to history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getRideHistory</a:t>
            </a: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: fetches the ride history list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BB3F0-98F8-52FF-EE2A-2E02CDA505A7}"/>
              </a:ext>
            </a:extLst>
          </p:cNvPr>
          <p:cNvSpPr txBox="1"/>
          <p:nvPr/>
        </p:nvSpPr>
        <p:spPr>
          <a:xfrm>
            <a:off x="429149" y="8989424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Users, Drivers have ride histories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  <a:latin typeface="Gordita" panose="020B0604020202020204" charset="0"/>
                <a:cs typeface="Gordita" panose="020B0604020202020204" charset="0"/>
              </a:rPr>
              <a:t>Ride History is an aggregate of rides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Gordita" panose="020B0604020202020204" charset="0"/>
              <a:cs typeface="Gordita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60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29073" y="3588385"/>
            <a:ext cx="10829854" cy="219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280"/>
              </a:lnSpc>
              <a:spcBef>
                <a:spcPct val="0"/>
              </a:spcBef>
            </a:pPr>
            <a:r>
              <a:rPr lang="en-US" sz="14400" u="none" strike="noStrike">
                <a:solidFill>
                  <a:srgbClr val="FFFFFF"/>
                </a:solidFill>
                <a:latin typeface="TAN Nightingale"/>
              </a:rPr>
              <a:t>Thank you!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03818" y="5721985"/>
            <a:ext cx="6880363" cy="961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 u="none" strike="noStrike" dirty="0">
                <a:solidFill>
                  <a:srgbClr val="FFFFFF"/>
                </a:solidFill>
                <a:latin typeface="Gordita"/>
              </a:rPr>
              <a:t>We hope you liked our wor</a:t>
            </a:r>
            <a:r>
              <a:rPr lang="en-US" sz="2799" dirty="0">
                <a:solidFill>
                  <a:srgbClr val="FFFFFF"/>
                </a:solidFill>
                <a:latin typeface="Gordita"/>
              </a:rPr>
              <a:t>k on this project!</a:t>
            </a:r>
            <a:endParaRPr lang="en-US" sz="2799" u="none" strike="noStrike" dirty="0">
              <a:solidFill>
                <a:srgbClr val="FFFFFF"/>
              </a:solidFill>
              <a:latin typeface="Gordita"/>
            </a:endParaRPr>
          </a:p>
        </p:txBody>
      </p:sp>
      <p:sp>
        <p:nvSpPr>
          <p:cNvPr id="5" name="TextBox 18">
            <a:extLst>
              <a:ext uri="{FF2B5EF4-FFF2-40B4-BE49-F238E27FC236}">
                <a16:creationId xmlns:a16="http://schemas.microsoft.com/office/drawing/2014/main" id="{EBF20D66-545A-5474-C5D9-7117109DC333}"/>
              </a:ext>
            </a:extLst>
          </p:cNvPr>
          <p:cNvSpPr txBox="1"/>
          <p:nvPr/>
        </p:nvSpPr>
        <p:spPr>
          <a:xfrm>
            <a:off x="309339" y="195477"/>
            <a:ext cx="38109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60"/>
              </a:lnSpc>
              <a:spcBef>
                <a:spcPct val="0"/>
              </a:spcBef>
            </a:pPr>
            <a:r>
              <a:rPr lang="en-US" sz="1400" dirty="0">
                <a:solidFill>
                  <a:srgbClr val="F2FC75"/>
                </a:solidFill>
                <a:latin typeface="Gordita"/>
              </a:rPr>
              <a:t>COMP301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F16143D4DE284FA4FFD39890167E73" ma:contentTypeVersion="5" ma:contentTypeDescription="Create a new document." ma:contentTypeScope="" ma:versionID="b2c0a27f3630eb59bd6edd449e7fbae3">
  <xsd:schema xmlns:xsd="http://www.w3.org/2001/XMLSchema" xmlns:xs="http://www.w3.org/2001/XMLSchema" xmlns:p="http://schemas.microsoft.com/office/2006/metadata/properties" xmlns:ns3="14e6a479-0b8a-4180-921e-937c2e00feef" targetNamespace="http://schemas.microsoft.com/office/2006/metadata/properties" ma:root="true" ma:fieldsID="2fce795b3c2e458213afab1c7558a10b" ns3:_="">
    <xsd:import namespace="14e6a479-0b8a-4180-921e-937c2e00fee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e6a479-0b8a-4180-921e-937c2e00f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86D7AC1-845E-4606-8141-58C1DA60D3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4e6a479-0b8a-4180-921e-937c2e00fe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C04F25E-88AD-4AC8-8434-5FB5640121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7BA65CE-F5D1-475E-96CD-41DC31647114}">
  <ds:schemaRefs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14e6a479-0b8a-4180-921e-937c2e00feef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693</Words>
  <Application>Microsoft Office PowerPoint</Application>
  <PresentationFormat>Custom</PresentationFormat>
  <Paragraphs>137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Aptos</vt:lpstr>
      <vt:lpstr>Gordita</vt:lpstr>
      <vt:lpstr>Arial</vt:lpstr>
      <vt:lpstr>TAN Nightingale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Bold Type 3D Handling Q&amp;A Session Workshop Template</dc:title>
  <dc:creator>Ahmed</dc:creator>
  <cp:lastModifiedBy>احمد خالد احمد فؤاد محمد</cp:lastModifiedBy>
  <cp:revision>6</cp:revision>
  <dcterms:created xsi:type="dcterms:W3CDTF">2006-08-16T00:00:00Z</dcterms:created>
  <dcterms:modified xsi:type="dcterms:W3CDTF">2024-10-19T10:37:29Z</dcterms:modified>
  <dc:identifier>DAF3NGQK9Nw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0x01010091F16143D4DE284FA4FFD39890167E73</vt:lpwstr>
  </property>
</Properties>
</file>